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87418-C2FC-4864-B52C-7902028274C9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03DD1-05CF-4142-80C7-444A1C9017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368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FF551-BE87-4700-EBE2-63899BB2C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1F8FE4-6E56-CF8C-566C-17A64901F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A94239-527D-D3F8-BE6B-B5474058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2CBE-9A27-459D-A543-F301A2868C27}" type="datetime1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8F5B5-6880-9E4E-D079-687D1144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E778B-39BA-3B8B-D13F-BFEF603E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253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A04485-CD3D-9E6B-7FF9-BAC6DC25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3DB09D-FFBE-FA32-3FC4-B2FB20B77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49027B-C55C-6B65-C906-E54EB6F7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60E8-DA09-4B6C-83D6-A657A97D300A}" type="datetime1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3AB3D6-13FF-7D43-FBD5-A6DC643D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7DD60A-6943-6E18-804C-6A58F321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54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E1532-6C05-1289-5B0F-EC0D01896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51F22B-1BE9-F401-165F-5E1C384C5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B1604A-3E2D-B2F1-1E05-DE026A6C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EF46-2950-4D29-94E0-29182F8D44C3}" type="datetime1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73AF0B-3C87-0362-EA2F-12214774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3C64F8-BA4C-564C-FA8C-3B33D753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48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35192-F631-C4EE-49F0-739D3D7BE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51C025-29AF-0F6E-453A-1904DF536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C021C9-EA63-3DE9-C967-61121A73A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B25848-7675-8BDF-815D-71646262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EFE9-AEC2-4F34-A4C4-62243202A967}" type="datetime1">
              <a:rPr lang="ru-RU" smtClean="0"/>
              <a:t>25.10.2025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85CBE2-46DC-8487-FD75-1C6934CF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38D4EC-965A-D508-0A2E-DF453DBF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81AFF-9E43-0B88-9532-ED566AFE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A7ADCD-18A5-D7DC-9252-2557E9058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AC581F-E9AD-2910-66B4-647199489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B351685-5E31-49EE-AFBB-580F3B3FA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BDAB31-A3C3-2A6E-0711-A79A4728B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7A175F-CD07-F81F-1191-8C1EF1CA6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8CA8-81D6-48EB-93D0-2E480DC5AEFE}" type="datetime1">
              <a:rPr lang="ru-RU" smtClean="0"/>
              <a:t>25.10.2025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0FC799-9189-DFC8-7F87-C4D9D824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968DA2-BE8B-24A4-1A71-4720DE28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95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1620A-8125-6283-8791-2D4780F4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256824-885B-2F05-2BC9-ADDAE813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1457A-1265-49DE-A7B3-00E3F8057F21}" type="datetime1">
              <a:rPr lang="ru-RU" smtClean="0"/>
              <a:t>25.10.2025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A9A1E2-2128-BA3A-4EE0-5B0E4DF0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8D60AD-83D5-7731-3F79-0FBD92FE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38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6303615-6815-07F2-4223-6AB94AC8B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DF64-38DE-4C11-AD7E-CBA2BDF3F794}" type="datetime1">
              <a:rPr lang="ru-RU" smtClean="0"/>
              <a:t>25.10.2025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16C64F9-2A99-2532-5886-4BCEF9B6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1DDD21-3406-6394-29EE-3D168F96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73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4B325-E341-177D-6A2B-11F7DBC9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805051-AA01-2F50-7EFB-A7BED1589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6589EC-6383-B399-3286-016E91945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8C7D2F-9367-1B7C-79EF-87090341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FB451-5325-4CBD-A3AC-9AFE28AE4FC1}" type="datetime1">
              <a:rPr lang="ru-RU" smtClean="0"/>
              <a:t>25.10.2025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E027A1-520E-F438-D5DF-3766BDF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E93188-A31C-EB64-C958-34C3F534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773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934D8-39B0-9A99-0227-B0B8724C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FD3B7-7E24-C225-3769-D7F5BB35A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53DED2-F9BF-85C0-3B61-B1C9D970D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785756-2A12-EF79-A8F5-D2C81BF0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CCA2D-1626-42C3-A4C2-6679DF7682AB}" type="datetime1">
              <a:rPr lang="ru-RU" smtClean="0"/>
              <a:t>25.10.2025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A3EB68-0B17-257C-4FEC-F655DFF7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7AB855-439C-D0E4-449A-DC20F67F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161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69685-53D2-133D-A94E-B664FB54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D04EA0-4146-982B-86F8-182EE0F17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789CC2-844C-BB3B-40B8-17D1C7DD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35F83-2ED0-44AD-8305-C3EE6879E1BF}" type="datetime1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36F704-FC17-0D42-DA24-49FB7AD4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3ABDBB-3BB9-B8EB-F23B-AAC06A67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149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1D30B53-772A-9999-7406-26F6B5319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2BAE10-62E4-45AF-F018-BC1DA070E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7B85DC-58BB-B51C-EE9C-FA768040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E6565-F1A1-40F5-8553-B8C17391F6FF}" type="datetime1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5D5118-A6BE-8526-E399-E1595209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AB38CE-B2B3-2B34-C7C9-38A5FDE0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61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89500-B138-5D44-AAF9-322E73CD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451B77-8536-65A8-36C2-E8EB67FE9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29526-7902-D077-23E9-EAC4E6052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85227-9339-4D3F-B324-EEA1FC5715D7}" type="datetime1">
              <a:rPr lang="ru-RU" smtClean="0"/>
              <a:t>25.10.2025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C54B3E-E5E4-5FD1-2B93-4438517E6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520441-FD4B-F622-DF7C-1DB2344D5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A548A-56CA-416F-9F99-78BCDADE0D5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02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55F33-7080-9A68-B52B-EC23A3678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effectLst/>
              </a:rPr>
              <a:t>Виртуальный музей вычислительной техники </a:t>
            </a:r>
            <a:r>
              <a:rPr lang="ru-RU" b="0" i="0" dirty="0" err="1">
                <a:effectLst/>
              </a:rPr>
              <a:t>ИРНИТУ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554602-1451-B448-39CA-458E409B4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0" i="1" dirty="0">
                <a:effectLst/>
              </a:rPr>
              <a:t>Проект по созданию доступной цифровой коллекции истории развития вычислительной техники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24A11-17D5-4892-E3C2-5EE85F3DEB65}"/>
              </a:ext>
            </a:extLst>
          </p:cNvPr>
          <p:cNvSpPr txBox="1"/>
          <p:nvPr/>
        </p:nvSpPr>
        <p:spPr>
          <a:xfrm>
            <a:off x="9196812" y="4996973"/>
            <a:ext cx="2942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Подготовили студенты группы </a:t>
            </a:r>
            <a:r>
              <a:rPr lang="ru-RU" b="1" dirty="0" err="1">
                <a:latin typeface="Calibri" panose="020F0502020204030204" pitchFamily="34" charset="0"/>
                <a:cs typeface="Calibri" panose="020F0502020204030204" pitchFamily="34" charset="0"/>
              </a:rPr>
              <a:t>АСУб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-22-1: 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Старков Александр</a:t>
            </a:r>
            <a:b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Юсупова Юлия</a:t>
            </a: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Юсупов Иван</a:t>
            </a:r>
          </a:p>
        </p:txBody>
      </p:sp>
    </p:spTree>
    <p:extLst>
      <p:ext uri="{BB962C8B-B14F-4D97-AF65-F5344CB8AC3E}">
        <p14:creationId xmlns:p14="http://schemas.microsoft.com/office/powerpoint/2010/main" val="390390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1 лучшая виртуальная онлайн экскурсия по всему миру | Canva">
            <a:extLst>
              <a:ext uri="{FF2B5EF4-FFF2-40B4-BE49-F238E27FC236}">
                <a16:creationId xmlns:a16="http://schemas.microsoft.com/office/drawing/2014/main" id="{D5335182-12C7-7AD8-9BDB-A48A1B4CA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42" y="1294645"/>
            <a:ext cx="7430004" cy="4526297"/>
          </a:xfrm>
          <a:prstGeom prst="rect">
            <a:avLst/>
          </a:prstGeom>
          <a:noFill/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7C2879F-D114-5951-9717-2D87B13B87B6}"/>
              </a:ext>
            </a:extLst>
          </p:cNvPr>
          <p:cNvSpPr/>
          <p:nvPr/>
        </p:nvSpPr>
        <p:spPr>
          <a:xfrm>
            <a:off x="4761996" y="0"/>
            <a:ext cx="7430004" cy="6858000"/>
          </a:xfrm>
          <a:prstGeom prst="rect">
            <a:avLst/>
          </a:prstGeom>
          <a:gradFill>
            <a:gsLst>
              <a:gs pos="30000">
                <a:schemeClr val="bg1"/>
              </a:gs>
              <a:gs pos="48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0370C-42F2-335D-4666-2D770AAD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864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b="1" i="0" dirty="0">
                <a:effectLst/>
              </a:rPr>
              <a:t>Что такое виртуальный музей?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</a:rPr>
              <a:t>Цифровая копия физической коллекции, доступная через веб-интерфейс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</a:rPr>
              <a:t>Возможность осматривать экспонаты 24/7 из любой точки мира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</a:rPr>
              <a:t>Интерактивная структура: </a:t>
            </a:r>
            <a:r>
              <a:rPr lang="ru-RU" sz="1800" b="0" i="0" dirty="0" err="1">
                <a:effectLst/>
              </a:rPr>
              <a:t>3D</a:t>
            </a:r>
            <a:r>
              <a:rPr lang="ru-RU" sz="1800" b="0" i="0" dirty="0">
                <a:effectLst/>
              </a:rPr>
              <a:t>-модели, фотографии, текстовые описания, аудиогид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1B8C8-EEE2-F96A-E764-CDF453A0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Введение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6BDD31-8800-26F1-9477-66399305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28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Иркутский национальный исследовательский технический университет">
            <a:extLst>
              <a:ext uri="{FF2B5EF4-FFF2-40B4-BE49-F238E27FC236}">
                <a16:creationId xmlns:a16="http://schemas.microsoft.com/office/drawing/2014/main" id="{D6812DC9-C745-4558-1974-D693BDCFE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136" y="1641256"/>
            <a:ext cx="7087200" cy="472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7C2879F-D114-5951-9717-2D87B13B87B6}"/>
              </a:ext>
            </a:extLst>
          </p:cNvPr>
          <p:cNvSpPr/>
          <p:nvPr/>
        </p:nvSpPr>
        <p:spPr>
          <a:xfrm>
            <a:off x="4744016" y="0"/>
            <a:ext cx="7447984" cy="6858000"/>
          </a:xfrm>
          <a:prstGeom prst="rect">
            <a:avLst/>
          </a:prstGeom>
          <a:gradFill>
            <a:gsLst>
              <a:gs pos="30000">
                <a:schemeClr val="bg1"/>
              </a:gs>
              <a:gs pos="48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0370C-42F2-335D-4666-2D770AAD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8648" cy="453570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1600" b="1" i="0" dirty="0">
                <a:effectLst/>
              </a:rPr>
              <a:t>Проблема: музей, который никто не знает и не может посетить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</a:rPr>
              <a:t>Расположение: </a:t>
            </a:r>
            <a:r>
              <a:rPr lang="ru-RU" sz="1600" b="0" i="0" dirty="0">
                <a:effectLst/>
              </a:rPr>
              <a:t>два помещения внутри здания университета.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</a:rPr>
              <a:t>Доступ: </a:t>
            </a:r>
            <a:r>
              <a:rPr lang="ru-RU" sz="1600" b="0" i="0" dirty="0">
                <a:effectLst/>
              </a:rPr>
              <a:t>посещать могут только студенты и сотрудники ИРНИТУ.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</a:rPr>
              <a:t>Время работы: </a:t>
            </a:r>
            <a:r>
              <a:rPr lang="ru-RU" sz="1600" b="0" i="0" dirty="0">
                <a:effectLst/>
              </a:rPr>
              <a:t>ограничено рабочим временем и требует сопровождения преподавателя.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</a:rPr>
              <a:t>Экспозиция: </a:t>
            </a:r>
            <a:r>
              <a:rPr lang="ru-RU" sz="1600" b="0" i="0" dirty="0">
                <a:effectLst/>
              </a:rPr>
              <a:t>уникальные экспонаты, но без подробных описаний и структурированного представления.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</a:rPr>
              <a:t>Последствие: </a:t>
            </a:r>
            <a:r>
              <a:rPr lang="ru-RU" sz="1600" b="0" i="0" dirty="0">
                <a:effectLst/>
              </a:rPr>
              <a:t>даже внутри университета большинство студентов и сотрудников не знают о существовании музея.</a:t>
            </a:r>
          </a:p>
          <a:p>
            <a:pPr marL="0" indent="0" algn="l">
              <a:buNone/>
            </a:pPr>
            <a:r>
              <a:rPr lang="ru-RU" sz="1600" b="1" i="0" dirty="0">
                <a:effectLst/>
              </a:rPr>
              <a:t>Проблема, которую решает виртуальный музей :</a:t>
            </a:r>
            <a:endParaRPr lang="ru-RU" sz="1600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Человек может посмотреть музей, если работает удалённо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У преподавателей появляется ещё один ресурс для материалов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</a:rPr>
              <a:t>Студенты могут заинтересоваться историей вычислительной техники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 err="1">
                <a:effectLst/>
              </a:rPr>
              <a:t>ИРНИТУ</a:t>
            </a:r>
            <a:r>
              <a:rPr lang="ru-RU" sz="1600" b="0" i="0" dirty="0">
                <a:effectLst/>
              </a:rPr>
              <a:t> получит возможность показать своё научное наследие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1B8C8-EEE2-F96A-E764-CDF453A0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b="0" i="0" dirty="0">
                <a:effectLst/>
              </a:rPr>
              <a:t>Текущая ситуация в </a:t>
            </a:r>
            <a:r>
              <a:rPr lang="ru-RU" b="0" i="0" dirty="0" err="1">
                <a:effectLst/>
              </a:rPr>
              <a:t>ИРНИТУ</a:t>
            </a:r>
            <a:endParaRPr lang="ru-RU" b="0" i="0" dirty="0">
              <a:effectLst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10E2D0-5E09-5C69-A6FE-4D9A25EA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6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5AE0347-EA60-E332-1999-79D231AD4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476462"/>
              </p:ext>
            </p:extLst>
          </p:nvPr>
        </p:nvGraphicFramePr>
        <p:xfrm>
          <a:off x="1002512" y="2055974"/>
          <a:ext cx="10186976" cy="2746052"/>
        </p:xfrm>
        <a:graphic>
          <a:graphicData uri="http://schemas.openxmlformats.org/drawingml/2006/table">
            <a:tbl>
              <a:tblPr/>
              <a:tblGrid>
                <a:gridCol w="5093488">
                  <a:extLst>
                    <a:ext uri="{9D8B030D-6E8A-4147-A177-3AD203B41FA5}">
                      <a16:colId xmlns:a16="http://schemas.microsoft.com/office/drawing/2014/main" val="2461899645"/>
                    </a:ext>
                  </a:extLst>
                </a:gridCol>
                <a:gridCol w="5093488">
                  <a:extLst>
                    <a:ext uri="{9D8B030D-6E8A-4147-A177-3AD203B41FA5}">
                      <a16:colId xmlns:a16="http://schemas.microsoft.com/office/drawing/2014/main" val="3672970885"/>
                    </a:ext>
                  </a:extLst>
                </a:gridCol>
              </a:tblGrid>
              <a:tr h="413384">
                <a:tc>
                  <a:txBody>
                    <a:bodyPr/>
                    <a:lstStyle/>
                    <a:p>
                      <a:pPr algn="l"/>
                      <a:r>
                        <a:rPr lang="ru-RU" sz="17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Группа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Потребность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74922"/>
                  </a:ext>
                </a:extLst>
              </a:tr>
              <a:tr h="679132"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Студенты </a:t>
                      </a:r>
                      <a:r>
                        <a:rPr lang="ru-RU" sz="17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ИРНИТУ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Образовательный ресурс, справочник по истории техники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025611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 algn="l"/>
                      <a:r>
                        <a:rPr lang="ru-RU" sz="17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Школьники и абитуриенты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Профориентация, знакомство с вузом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476908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Преподаватели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Иллюстрации для лекций, учебный материал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301855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Исследователи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Доступ к уникальной коллекции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770459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 algn="l"/>
                      <a:r>
                        <a:rPr lang="ru-RU" sz="17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Широкая публика</a:t>
                      </a: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Интерес к истории компьютеров и </a:t>
                      </a:r>
                      <a:r>
                        <a:rPr lang="ru-RU" sz="17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ИРНИТУ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818" marR="73818" marT="73818" marB="7381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972817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1B8C8-EEE2-F96A-E764-CDF453A0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b="0" i="0" dirty="0">
                <a:effectLst/>
              </a:rPr>
              <a:t>Целевая аудитория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B420B6-56D1-7E2A-A18D-C3FBC40A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183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1B8C8-EEE2-F96A-E764-CDF453A0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27"/>
            <a:ext cx="10515600" cy="1325563"/>
          </a:xfrm>
        </p:spPr>
        <p:txBody>
          <a:bodyPr/>
          <a:lstStyle/>
          <a:p>
            <a:pPr algn="l"/>
            <a:r>
              <a:rPr lang="ru-RU" b="0" i="0" dirty="0">
                <a:effectLst/>
              </a:rPr>
              <a:t>Существующие аналоги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CF368A2-5C8C-C74F-9947-CE1412E01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24943"/>
              </p:ext>
            </p:extLst>
          </p:nvPr>
        </p:nvGraphicFramePr>
        <p:xfrm>
          <a:off x="2018923" y="1124601"/>
          <a:ext cx="8030423" cy="5081368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993856">
                  <a:extLst>
                    <a:ext uri="{9D8B030D-6E8A-4147-A177-3AD203B41FA5}">
                      <a16:colId xmlns:a16="http://schemas.microsoft.com/office/drawing/2014/main" val="1093132796"/>
                    </a:ext>
                  </a:extLst>
                </a:gridCol>
                <a:gridCol w="1876114">
                  <a:extLst>
                    <a:ext uri="{9D8B030D-6E8A-4147-A177-3AD203B41FA5}">
                      <a16:colId xmlns:a16="http://schemas.microsoft.com/office/drawing/2014/main" val="2730769875"/>
                    </a:ext>
                  </a:extLst>
                </a:gridCol>
                <a:gridCol w="1853769">
                  <a:extLst>
                    <a:ext uri="{9D8B030D-6E8A-4147-A177-3AD203B41FA5}">
                      <a16:colId xmlns:a16="http://schemas.microsoft.com/office/drawing/2014/main" val="918480324"/>
                    </a:ext>
                  </a:extLst>
                </a:gridCol>
                <a:gridCol w="2306684">
                  <a:extLst>
                    <a:ext uri="{9D8B030D-6E8A-4147-A177-3AD203B41FA5}">
                      <a16:colId xmlns:a16="http://schemas.microsoft.com/office/drawing/2014/main" val="3171334329"/>
                    </a:ext>
                  </a:extLst>
                </a:gridCol>
              </a:tblGrid>
              <a:tr h="327413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Критерий оценки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Цифровая Кунсткамера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National Museum of Natural History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err="1">
                          <a:effectLst/>
                        </a:rPr>
                        <a:t>Mauritshuis</a:t>
                      </a:r>
                      <a:r>
                        <a:rPr lang="ru-RU" sz="1100" dirty="0">
                          <a:effectLst/>
                        </a:rPr>
                        <a:t> (</a:t>
                      </a:r>
                      <a:r>
                        <a:rPr lang="ru-RU" sz="1100" dirty="0" err="1">
                          <a:effectLst/>
                        </a:rPr>
                        <a:t>Gigapixel</a:t>
                      </a:r>
                      <a:r>
                        <a:rPr lang="ru-RU" sz="1100" dirty="0">
                          <a:effectLst/>
                        </a:rPr>
                        <a:t> Museum)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2704678420"/>
                  </a:ext>
                </a:extLst>
              </a:tr>
              <a:tr h="654825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Общая оценка интерфейса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Высокое качество, историческая стилизация под XVIII век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Высокое качество, простота использования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Превосходное качество, современный дизайн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626504013"/>
                  </a:ext>
                </a:extLst>
              </a:tr>
              <a:tr h="650194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Цветовое решение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Спокойные пастельные тона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Нейтральные цвета, не отвлекают от экспонатов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Элегантная палитра, акцент на произведениях искусства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3016004784"/>
                  </a:ext>
                </a:extLst>
              </a:tr>
              <a:tr h="491120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Навигация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Интерактивная карта, переход между залами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Интуитивная: стрелки, карта навигации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Простая навигация по </a:t>
                      </a:r>
                      <a:r>
                        <a:rPr lang="ru-RU" sz="1100">
                          <a:effectLst/>
                        </a:rPr>
                        <a:t>залам дворца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2526861076"/>
                  </a:ext>
                </a:extLst>
              </a:tr>
              <a:tr h="327413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Поиск информации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Ограниченный: акцент на маршрут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Отсутствует встроенный поиск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Встроенный поиск по коллекции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3236559944"/>
                  </a:ext>
                </a:extLst>
              </a:tr>
              <a:tr h="654825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Интерактивность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3D-модели, фотограмметрия, мультимедиа, описания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Зум, гигапиксельные изображения, видео-туры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Зум до уровня мазка кисти, инфракрасные слои, аудио-гид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2043506606"/>
                  </a:ext>
                </a:extLst>
              </a:tr>
              <a:tr h="650194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3D-технологии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Фотограмметрия, 3D-модели высокой детализации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Гигапиксельные панорамы, 360° съемка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Гигапиксельные изображения, AR/VR-функции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3350568795"/>
                  </a:ext>
                </a:extLst>
              </a:tr>
              <a:tr h="654825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Адаптивность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ПК, планшеты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Кроссплатформенность: ПК, Mac, Linux, мобильные устройства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Полная адаптация для всех устройств, VR-поддержка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2573178428"/>
                  </a:ext>
                </a:extLst>
              </a:tr>
              <a:tr h="654825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Мультимедиа контент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Аудио, видео, текст, 3D-модели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Видео-туры, изображения высокого разрешения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Фото, аудиогид, истории о картинах, инфракрасные снимки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70" marR="66970" marT="0" marB="0"/>
                </a:tc>
                <a:extLst>
                  <a:ext uri="{0D108BD9-81ED-4DB2-BD59-A6C34878D82A}">
                    <a16:rowId xmlns:a16="http://schemas.microsoft.com/office/drawing/2014/main" val="404360132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5F176F-63F0-1A48-D2A1-ECB749BE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18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5E0370C-42F2-335D-4666-2D770AAD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8648" cy="4535706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1700" dirty="0"/>
              <a:t>«Цифровая Кунсткамера» отличается аутентичной исторической стилизацией и использованием 3D-моделей с высокой детализацией, что создаёт атмосферу погружения, однако функционал поиска ограничен.</a:t>
            </a:r>
          </a:p>
          <a:p>
            <a:pPr algn="just"/>
            <a:r>
              <a:rPr lang="ru-RU" sz="1700" dirty="0" err="1"/>
              <a:t>National</a:t>
            </a:r>
            <a:r>
              <a:rPr lang="ru-RU" sz="1700" dirty="0"/>
              <a:t> </a:t>
            </a:r>
            <a:r>
              <a:rPr lang="ru-RU" sz="1700" dirty="0" err="1"/>
              <a:t>Museum</a:t>
            </a:r>
            <a:r>
              <a:rPr lang="ru-RU" sz="1700" dirty="0"/>
              <a:t> </a:t>
            </a:r>
            <a:r>
              <a:rPr lang="ru-RU" sz="1700" dirty="0" err="1"/>
              <a:t>of</a:t>
            </a:r>
            <a:r>
              <a:rPr lang="ru-RU" sz="1700" dirty="0"/>
              <a:t> </a:t>
            </a:r>
            <a:r>
              <a:rPr lang="ru-RU" sz="1700" dirty="0" err="1"/>
              <a:t>Natural</a:t>
            </a:r>
            <a:r>
              <a:rPr lang="ru-RU" sz="1700" dirty="0"/>
              <a:t> </a:t>
            </a:r>
            <a:r>
              <a:rPr lang="ru-RU" sz="1700" dirty="0" err="1"/>
              <a:t>History</a:t>
            </a:r>
            <a:r>
              <a:rPr lang="ru-RU" sz="1700" dirty="0"/>
              <a:t> </a:t>
            </a:r>
            <a:r>
              <a:rPr lang="ru-RU" sz="1700" dirty="0" err="1"/>
              <a:t>Virtual</a:t>
            </a:r>
            <a:r>
              <a:rPr lang="ru-RU" sz="1700" dirty="0"/>
              <a:t> </a:t>
            </a:r>
            <a:r>
              <a:rPr lang="ru-RU" sz="1700" dirty="0" err="1"/>
              <a:t>Tour</a:t>
            </a:r>
            <a:r>
              <a:rPr lang="ru-RU" sz="1700" dirty="0"/>
              <a:t> демонстрирует удобную, интуитивную навигацию и кроссплатформенность, но имеет минимальные возможности интерактивного взаимодействия.</a:t>
            </a:r>
          </a:p>
          <a:p>
            <a:pPr algn="just"/>
            <a:r>
              <a:rPr lang="ru-RU" sz="1800" dirty="0" err="1"/>
              <a:t>Mauritshuis</a:t>
            </a:r>
            <a:r>
              <a:rPr lang="ru-RU" sz="1800" dirty="0"/>
              <a:t> (</a:t>
            </a:r>
            <a:r>
              <a:rPr lang="ru-RU" sz="1800" dirty="0" err="1"/>
              <a:t>Gigapixel</a:t>
            </a:r>
            <a:r>
              <a:rPr lang="ru-RU" sz="1800" dirty="0"/>
              <a:t> </a:t>
            </a:r>
            <a:r>
              <a:rPr lang="ru-RU" sz="1800" dirty="0" err="1"/>
              <a:t>Museum</a:t>
            </a:r>
            <a:r>
              <a:rPr lang="ru-RU" sz="1800" dirty="0"/>
              <a:t>) выделяется высоким качеством интерфейса, современным дизайном и применением передовых технологий (AR/VR, аудиогид), обеспечивая максимальный уровень </a:t>
            </a:r>
            <a:r>
              <a:rPr lang="ru-RU" sz="1800" dirty="0" err="1"/>
              <a:t>вовлечённости</a:t>
            </a:r>
            <a:r>
              <a:rPr lang="ru-RU" sz="1800" dirty="0"/>
              <a:t> пользователей.</a:t>
            </a:r>
          </a:p>
          <a:p>
            <a:pPr marL="0" indent="0" algn="just">
              <a:buNone/>
            </a:pPr>
            <a:r>
              <a:rPr lang="ru-RU" sz="1800" b="1" dirty="0"/>
              <a:t>Вывод: </a:t>
            </a:r>
            <a:r>
              <a:rPr lang="ru-RU" sz="1800" dirty="0"/>
              <a:t>виртуальные музеи демонстрируют интересные решения, но имеют и свои недостатки. Несмотря на ограниченные ресурсы, мы планируем перенять их удачный опыт и учесть выявленные недостатки, чтобы создать более удобную и доступную платформу.</a:t>
            </a:r>
          </a:p>
          <a:p>
            <a:pPr marL="0" indent="0" algn="just">
              <a:buNone/>
            </a:pPr>
            <a:endParaRPr lang="ru-RU" sz="1800" dirty="0"/>
          </a:p>
          <a:p>
            <a:pPr algn="just"/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1B8C8-EEE2-F96A-E764-CDF453A0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анализа аналогов</a:t>
            </a:r>
            <a:endParaRPr lang="ru-RU" b="0" i="0" dirty="0">
              <a:effectLst/>
            </a:endParaRPr>
          </a:p>
        </p:txBody>
      </p:sp>
      <p:pic>
        <p:nvPicPr>
          <p:cNvPr id="4098" name="Picture 2" descr="Виртуальные проекты">
            <a:extLst>
              <a:ext uri="{FF2B5EF4-FFF2-40B4-BE49-F238E27FC236}">
                <a16:creationId xmlns:a16="http://schemas.microsoft.com/office/drawing/2014/main" id="{FB67533E-5305-641E-14A5-6CB4D855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848" y="1370044"/>
            <a:ext cx="4046959" cy="1660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CC3CB5-F989-BEA8-7E03-133671B66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590" y="2961336"/>
            <a:ext cx="4206603" cy="214783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C57794-58C1-C066-286B-73227FB0D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492" y="3936889"/>
            <a:ext cx="3021375" cy="280972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2DBF26-2A2B-5C10-26CF-CADDCE1E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3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5E0370C-42F2-335D-4666-2D770AAD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47368" cy="4584228"/>
          </a:xfrm>
        </p:spPr>
        <p:txBody>
          <a:bodyPr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Локальная задача, глобальная доступность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dirty="0"/>
              <a:t>М</a:t>
            </a:r>
            <a:r>
              <a:rPr lang="ru-RU" b="0" i="0" dirty="0">
                <a:effectLst/>
              </a:rPr>
              <a:t>узей создаётся именно для </a:t>
            </a:r>
            <a:r>
              <a:rPr lang="ru-RU" b="0" i="0" dirty="0" err="1">
                <a:effectLst/>
              </a:rPr>
              <a:t>ИРНИТУ</a:t>
            </a:r>
            <a:r>
              <a:rPr lang="ru-RU" b="0" i="0" dirty="0">
                <a:effectLst/>
              </a:rPr>
              <a:t>, его истории и коллекции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dirty="0"/>
              <a:t>О</a:t>
            </a:r>
            <a:r>
              <a:rPr lang="ru-RU" b="0" i="0" dirty="0">
                <a:effectLst/>
              </a:rPr>
              <a:t>ткрыт для всех без регистрации и барьеров</a:t>
            </a: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effectLst/>
              </a:rPr>
              <a:t>3D</a:t>
            </a:r>
            <a:r>
              <a:rPr lang="ru-RU" b="1" i="0" dirty="0">
                <a:effectLst/>
              </a:rPr>
              <a:t>-модели + подробные описания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</a:rPr>
              <a:t>Для технических устройств нужно понимать конструкцию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</a:rPr>
              <a:t>Пользователь может вращать, приближать, смотреть детали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Это невозможно в физическом музее Исторический контекст: люди + техника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</a:rPr>
              <a:t>Не просто экспонаты, но и их создатели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</a:rPr>
              <a:t>Карточки учёных, инженеров, изобретателей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</a:rPr>
              <a:t>История развития вычислительной техники как сюжет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Виртуальные туры — структурированная навигация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</a:rPr>
              <a:t>«Пройди тур по эпохам»: от механики к электронике к компьютерам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</a:rPr>
              <a:t>Для каждого интереса свой маршрут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1B8C8-EEE2-F96A-E764-CDF453A0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</a:rPr>
              <a:t>Наше решение — что отличает проект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F1B4C4-FE71-8784-6F54-D77A83FC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30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ECF89-1E6F-F4B9-2E43-DDCF8B95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</a:rPr>
              <a:t>Что </a:t>
            </a:r>
            <a:r>
              <a:rPr lang="ru-RU" dirty="0"/>
              <a:t>есть сейчас </a:t>
            </a:r>
            <a:r>
              <a:rPr lang="en-US" dirty="0"/>
              <a:t>/ </a:t>
            </a:r>
            <a:r>
              <a:rPr lang="ru-RU" dirty="0"/>
              <a:t>Что будет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6CF26A-A5CB-DC5C-B154-6C89423C5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9" y="1922702"/>
            <a:ext cx="5562600" cy="337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EA2213-6E21-5BDE-2706-5FFCE7559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397" y="1910933"/>
            <a:ext cx="5562600" cy="33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35FB73E-0863-9461-26EC-EA52F0278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108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ECF89-1E6F-F4B9-2E43-DDCF8B95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0" i="0" dirty="0" err="1">
                <a:effectLst/>
              </a:rPr>
              <a:t>MVP</a:t>
            </a:r>
            <a:r>
              <a:rPr lang="ru-RU" b="0" i="0" dirty="0">
                <a:effectLst/>
              </a:rPr>
              <a:t> — что будет в первой версии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C6F187-D381-EDC2-3D53-79CFC30A9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2990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Каталог с минимум 15 структурированными карточками экспонатов, исторических личностей, фильтрацией по эпохам и категориям.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Интерактивный просмотр </a:t>
            </a:r>
            <a:r>
              <a:rPr lang="ru-RU" b="0" i="0" dirty="0" err="1">
                <a:effectLst/>
              </a:rPr>
              <a:t>3D</a:t>
            </a:r>
            <a:r>
              <a:rPr lang="ru-RU" b="0" i="0" dirty="0">
                <a:effectLst/>
              </a:rPr>
              <a:t>-моделей для основных экспонатов.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Раздел с информацией об историческом контексте и ключевых личностях в развитии вычислительной техники.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Административный интерфейс для управления контентом и загрузки медиа.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507EB0-54F0-8AAE-4A54-48DB4183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963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ECF89-1E6F-F4B9-2E43-DDCF8B95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b="0" i="0" dirty="0">
                <a:effectLst/>
              </a:rPr>
              <a:t>Спасибо за внимание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0DFFED7-8677-A866-C037-028ABD7F0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A548A-56CA-416F-9F99-78BCDADE0D5B}" type="slidenum">
              <a:rPr lang="ru-RU" smtClean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3225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673</Words>
  <Application>Microsoft Office PowerPoint</Application>
  <PresentationFormat>Широкоэкранный</PresentationFormat>
  <Paragraphs>107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Times New Roman</vt:lpstr>
      <vt:lpstr>Тема Office</vt:lpstr>
      <vt:lpstr>Виртуальный музей вычислительной техники ИРНИТУ</vt:lpstr>
      <vt:lpstr>Введение</vt:lpstr>
      <vt:lpstr>Текущая ситуация в ИРНИТУ</vt:lpstr>
      <vt:lpstr>Целевая аудитория</vt:lpstr>
      <vt:lpstr>Существующие аналоги</vt:lpstr>
      <vt:lpstr>Результаты анализа аналогов</vt:lpstr>
      <vt:lpstr>Наше решение — что отличает проект</vt:lpstr>
      <vt:lpstr>Что есть сейчас / Что будет</vt:lpstr>
      <vt:lpstr>MVP — что будет в первой версии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Виртуальный музей вычислительной техники ИРНИТУ</dc:title>
  <dc:creator>W hat</dc:creator>
  <cp:lastModifiedBy>W hat</cp:lastModifiedBy>
  <cp:revision>47</cp:revision>
  <dcterms:created xsi:type="dcterms:W3CDTF">2025-10-24T18:54:21Z</dcterms:created>
  <dcterms:modified xsi:type="dcterms:W3CDTF">2025-10-25T04:32:24Z</dcterms:modified>
</cp:coreProperties>
</file>